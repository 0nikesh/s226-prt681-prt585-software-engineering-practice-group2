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198662-8F9A-484F-9767-62C833BB8620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176DF8-5CE2-4479-A8D5-C88085D90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402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6B535-727B-49EB-9469-6384F59A8A6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1835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999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2852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521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0748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317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4167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3021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0017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948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DD648-7F51-4665-8C94-AC55B1DAEF43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EBE9-F3D8-470A-9632-86C9380C9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1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DD648-7F51-4665-8C94-AC55B1DAEF43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EBE9-F3D8-470A-9632-86C9380C9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706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DD648-7F51-4665-8C94-AC55B1DAEF43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EBE9-F3D8-470A-9632-86C9380C9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30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DD648-7F51-4665-8C94-AC55B1DAEF43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EBE9-F3D8-470A-9632-86C9380C9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034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DD648-7F51-4665-8C94-AC55B1DAEF43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EBE9-F3D8-470A-9632-86C9380C9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727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DD648-7F51-4665-8C94-AC55B1DAEF43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EBE9-F3D8-470A-9632-86C9380C9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429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DD648-7F51-4665-8C94-AC55B1DAEF43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EBE9-F3D8-470A-9632-86C9380C9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326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DD648-7F51-4665-8C94-AC55B1DAEF43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EBE9-F3D8-470A-9632-86C9380C9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847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DD648-7F51-4665-8C94-AC55B1DAEF43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EBE9-F3D8-470A-9632-86C9380C9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506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DD648-7F51-4665-8C94-AC55B1DAEF43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EBE9-F3D8-470A-9632-86C9380C9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421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DD648-7F51-4665-8C94-AC55B1DAEF43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EBE9-F3D8-470A-9632-86C9380C9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482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2947269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DD648-7F51-4665-8C94-AC55B1DAEF43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4EBE9-F3D8-470A-9632-86C9380C9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100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B648FE-D8CB-B260-99E0-B48E3BA7F508}"/>
              </a:ext>
            </a:extLst>
          </p:cNvPr>
          <p:cNvSpPr txBox="1"/>
          <p:nvPr/>
        </p:nvSpPr>
        <p:spPr>
          <a:xfrm flipV="1">
            <a:off x="2834640" y="1352451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ea typeface="Calibri"/>
                <a:cs typeface="Calibri"/>
              </a:rPr>
              <a:t>Course Name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82BA47-BE83-A36F-C809-41B0EAD55655}"/>
              </a:ext>
            </a:extLst>
          </p:cNvPr>
          <p:cNvSpPr txBox="1"/>
          <p:nvPr/>
        </p:nvSpPr>
        <p:spPr>
          <a:xfrm>
            <a:off x="3048000" y="3114040"/>
            <a:ext cx="6695440" cy="36625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highlight>
                  <a:srgbClr val="000000"/>
                </a:highlight>
                <a:latin typeface="Open Sans"/>
                <a:ea typeface="Open Sans"/>
                <a:cs typeface="Open Sans"/>
              </a:rPr>
              <a:t>S226</a:t>
            </a:r>
            <a:r>
              <a:rPr lang="en-US" b="1" i="0" dirty="0">
                <a:solidFill>
                  <a:schemeClr val="bg1"/>
                </a:solidFill>
                <a:highlight>
                  <a:srgbClr val="000000"/>
                </a:highlight>
                <a:latin typeface="Open Sans"/>
                <a:ea typeface="Open Sans"/>
                <a:cs typeface="Open Sans"/>
              </a:rPr>
              <a:t> </a:t>
            </a:r>
            <a:r>
              <a:rPr lang="en-US" b="1" dirty="0">
                <a:solidFill>
                  <a:schemeClr val="bg1"/>
                </a:solidFill>
                <a:highlight>
                  <a:srgbClr val="000000"/>
                </a:highlight>
                <a:latin typeface="Open Sans"/>
                <a:ea typeface="Open Sans"/>
                <a:cs typeface="Open Sans"/>
              </a:rPr>
              <a:t>PRT681/PRT585 SOFTWARE ENGINEERING: PRACTICE</a:t>
            </a:r>
            <a:endParaRPr lang="en-US" b="1" dirty="0">
              <a:solidFill>
                <a:schemeClr val="bg1"/>
              </a:solidFill>
              <a:ea typeface="Calibri"/>
              <a:cs typeface="Calibri"/>
            </a:endParaRPr>
          </a:p>
          <a:p>
            <a:pPr algn="ctr"/>
            <a:r>
              <a:rPr lang="en-US" sz="2800" b="1" i="0" dirty="0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​</a:t>
            </a:r>
            <a:r>
              <a:rPr lang="en-US" sz="2800" b="1" i="0" u="none" strike="noStrike" baseline="0" dirty="0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GROUP PRESENTATION SUBMISSION</a:t>
            </a:r>
            <a:r>
              <a:rPr lang="en-US" sz="2800" b="0" i="0" dirty="0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​</a:t>
            </a:r>
            <a:endParaRPr lang="en-US" b="0" i="0" dirty="0">
              <a:solidFill>
                <a:schemeClr val="bg1"/>
              </a:solidFill>
              <a:latin typeface="Calibri"/>
              <a:ea typeface="Calibri" panose="020F0502020204030204"/>
              <a:cs typeface="Calibri" panose="020F0502020204030204"/>
            </a:endParaRPr>
          </a:p>
          <a:p>
            <a:pPr algn="ctr"/>
            <a:r>
              <a:rPr lang="en-US" sz="2800" b="1" i="0" u="none" strike="noStrike" baseline="0" dirty="0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Team Name: Sydney </a:t>
            </a:r>
            <a:r>
              <a:rPr lang="en-US" sz="2800" b="1" dirty="0" smtClean="0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Group 2</a:t>
            </a:r>
            <a:endParaRPr lang="en-US" sz="2800" b="1" dirty="0">
              <a:solidFill>
                <a:schemeClr val="bg1"/>
              </a:solidFill>
              <a:latin typeface="Calibri"/>
              <a:ea typeface="Segoe UI"/>
              <a:cs typeface="Segoe UI"/>
            </a:endParaRPr>
          </a:p>
          <a:p>
            <a:pPr algn="ctr"/>
            <a:r>
              <a:rPr lang="en-US" sz="2800" b="1" dirty="0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 </a:t>
            </a:r>
            <a:r>
              <a:rPr lang="en-US" sz="2800" b="1" i="0" u="sng" strike="noStrike" baseline="0" dirty="0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Members</a:t>
            </a:r>
            <a:r>
              <a:rPr lang="en-US" sz="2800" b="0" i="0" u="sng" dirty="0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​</a:t>
            </a:r>
            <a:endParaRPr lang="en-US" u="sng" dirty="0">
              <a:solidFill>
                <a:schemeClr val="bg1"/>
              </a:solidFill>
            </a:endParaRPr>
          </a:p>
          <a:p>
            <a:pPr algn="ctr" rtl="0"/>
            <a:r>
              <a:rPr lang="en-US" sz="2800" b="1" i="0" u="none" strike="noStrike" baseline="0" dirty="0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Bibek KC(S394325)</a:t>
            </a:r>
            <a:r>
              <a:rPr lang="en-US" sz="2800" b="0" i="0" dirty="0" smtClean="0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n-US" sz="2800" b="1" dirty="0" err="1" smtClean="0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Nikesh</a:t>
            </a:r>
            <a:r>
              <a:rPr lang="en-US" sz="2800" b="1" dirty="0" smtClean="0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 Shrestha(S394589)</a:t>
            </a:r>
            <a:endParaRPr lang="en-US" sz="2800" b="1" i="0" dirty="0">
              <a:solidFill>
                <a:schemeClr val="bg1"/>
              </a:solidFill>
              <a:latin typeface="Calibri"/>
              <a:ea typeface="Segoe UI"/>
              <a:cs typeface="Segoe UI"/>
            </a:endParaRPr>
          </a:p>
          <a:p>
            <a:pPr algn="ctr" rtl="0"/>
            <a:r>
              <a:rPr lang="en-US" sz="2800" b="1" i="0" u="none" strike="noStrike" baseline="0" dirty="0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Simran Chauhan(S393695)</a:t>
            </a:r>
            <a:r>
              <a:rPr lang="en-US" sz="2800" b="0" i="0" dirty="0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ctr"/>
            <a:r>
              <a:rPr lang="en-US" sz="2800" b="1" dirty="0" smtClean="0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Susmita Sharma(S394867</a:t>
            </a:r>
            <a:r>
              <a:rPr lang="en-US" sz="2800" b="1" dirty="0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)</a:t>
            </a:r>
          </a:p>
          <a:p>
            <a:pPr algn="ctr"/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8" name="Picture 7" descr="Home | Charles Darwin University">
            <a:extLst>
              <a:ext uri="{FF2B5EF4-FFF2-40B4-BE49-F238E27FC236}">
                <a16:creationId xmlns:a16="http://schemas.microsoft.com/office/drawing/2014/main" id="{5243222F-9399-B6C7-6E62-21422A84F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1" y="1016636"/>
            <a:ext cx="3190238" cy="1410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54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760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Acknowledgement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69848"/>
            <a:ext cx="1097280" cy="50292"/>
          </a:xfrm>
          <a:prstGeom prst="rect">
            <a:avLst/>
          </a:prstGeom>
          <a:solidFill>
            <a:srgbClr val="25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0">
                <a:solidFill>
                  <a:srgbClr val="A4B8CA"/>
                </a:solidFill>
                <a:latin typeface="Aptos"/>
              </a:rPr>
              <a:t>Recognising the people and resources that supported TripMate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3474720" cy="237744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2020824"/>
            <a:ext cx="3145536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700" b="1">
                <a:solidFill>
                  <a:srgbClr val="25BEAE"/>
                </a:solidFill>
                <a:latin typeface="Aptos"/>
              </a:rPr>
              <a:t>Teaching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441448"/>
            <a:ext cx="3145536" cy="168249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0">
                <a:solidFill>
                  <a:srgbClr val="E2EBF3"/>
                </a:solidFill>
                <a:latin typeface="Aptos"/>
              </a:rPr>
              <a:t>We thank our lecturer and teaching team for their guidance, feedback, and support throughout Software Engineering: Practice.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874519"/>
            <a:ext cx="3474720" cy="237744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35424" y="2020824"/>
            <a:ext cx="3145536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700" b="1">
                <a:solidFill>
                  <a:srgbClr val="25BEAE"/>
                </a:solidFill>
                <a:latin typeface="Aptos"/>
              </a:rPr>
              <a:t>Project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424" y="2441448"/>
            <a:ext cx="3145536" cy="168249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0">
                <a:solidFill>
                  <a:srgbClr val="E2EBF3"/>
                </a:solidFill>
                <a:latin typeface="Aptos"/>
              </a:rPr>
              <a:t>We acknowledge the collaboration and contributions of Bibek KC, Simran Chauhan, Susmita Sharma, and Nikesh Shrestha.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74519"/>
            <a:ext cx="3474720" cy="237744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11312" y="2020824"/>
            <a:ext cx="3145536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700" b="1">
                <a:solidFill>
                  <a:srgbClr val="25BEAE"/>
                </a:solidFill>
                <a:latin typeface="Aptos"/>
              </a:rPr>
              <a:t>Tools &amp; Resources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2441448"/>
            <a:ext cx="3145536" cy="168249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0">
                <a:solidFill>
                  <a:srgbClr val="E2EBF3"/>
                </a:solidFill>
                <a:latin typeface="Aptos"/>
              </a:rPr>
              <a:t>We acknowledge the development and collaboration tools used in our workflow, including React, .NET, MySQL, GitHub, Jira, and Swagger.</a:t>
            </a:r>
          </a:p>
        </p:txBody>
      </p:sp>
    </p:spTree>
    <p:extLst>
      <p:ext uri="{BB962C8B-B14F-4D97-AF65-F5344CB8AC3E}">
        <p14:creationId xmlns:p14="http://schemas.microsoft.com/office/powerpoint/2010/main" val="2649021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814" y="768945"/>
            <a:ext cx="6180181" cy="96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TripMate — Travel Planning Web Application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19814" y="2252563"/>
            <a:ext cx="3032248" cy="847527"/>
          </a:xfrm>
          <a:prstGeom prst="roundRect">
            <a:avLst>
              <a:gd name="adj" fmla="val 7645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80346" y="2413099"/>
            <a:ext cx="2711184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00" dirty="0">
                <a:solidFill>
                  <a:srgbClr val="E2E6E9"/>
                </a:solidFill>
                <a:latin typeface="Merriweather"/>
                <a:ea typeface="Merriweather" pitchFamily="34" charset="-122"/>
                <a:cs typeface="Merriweather" pitchFamily="34" charset="-120"/>
              </a:rPr>
              <a:t>Module Name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80346" y="2723555"/>
            <a:ext cx="2711184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Software Engineering: Practice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867748" y="2252563"/>
            <a:ext cx="3032248" cy="847527"/>
          </a:xfrm>
          <a:prstGeom prst="roundRect">
            <a:avLst>
              <a:gd name="adj" fmla="val 7645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28280" y="2413099"/>
            <a:ext cx="2711184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Group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028280" y="2723555"/>
            <a:ext cx="2711184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SYD Group 2 · 2026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9814" y="3215779"/>
            <a:ext cx="6180181" cy="847527"/>
          </a:xfrm>
          <a:prstGeom prst="roundRect">
            <a:avLst>
              <a:gd name="adj" fmla="val 7645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0346" y="3376315"/>
            <a:ext cx="5859117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00" dirty="0">
                <a:solidFill>
                  <a:srgbClr val="E2E6E9"/>
                </a:solidFill>
                <a:latin typeface="Merriweather"/>
                <a:ea typeface="Merriweather" pitchFamily="34" charset="-122"/>
                <a:cs typeface="Merriweather" pitchFamily="34" charset="-120"/>
              </a:rPr>
              <a:t>Team Member Name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80346" y="3686770"/>
            <a:ext cx="5859117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 err="1" smtClean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Bibek</a:t>
            </a:r>
            <a:r>
              <a:rPr lang="en-US" sz="1200" dirty="0" smtClean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Kc </a:t>
            </a: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· </a:t>
            </a:r>
            <a:r>
              <a:rPr lang="en-US" sz="1200" dirty="0" err="1" smtClean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Nikesh</a:t>
            </a:r>
            <a:r>
              <a:rPr lang="en-US" sz="1200" dirty="0" smtClean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Shrestha </a:t>
            </a: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· </a:t>
            </a:r>
            <a:r>
              <a:rPr lang="en-US" sz="1200" dirty="0" err="1" smtClean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Simran</a:t>
            </a:r>
            <a:r>
              <a:rPr lang="en-US" sz="1200" dirty="0" smtClean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Chauhan </a:t>
            </a: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· </a:t>
            </a:r>
            <a:r>
              <a:rPr lang="en-US" sz="1200" dirty="0" smtClean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Susmita Sharma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220955" y="4650383"/>
            <a:ext cx="5524858" cy="1295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endParaRPr lang="en-US" sz="1200" dirty="0">
              <a:solidFill>
                <a:srgbClr val="FFFFFF"/>
              </a:solidFill>
              <a:latin typeface="Merriweather"/>
            </a:endParaRPr>
          </a:p>
        </p:txBody>
      </p:sp>
    </p:spTree>
    <p:extLst>
      <p:ext uri="{BB962C8B-B14F-4D97-AF65-F5344CB8AC3E}">
        <p14:creationId xmlns:p14="http://schemas.microsoft.com/office/powerpoint/2010/main" val="1392541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Context: The Challenge We Set Out to Solve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0292"/>
          </a:xfrm>
          <a:prstGeom prst="rect">
            <a:avLst/>
          </a:prstGeom>
          <a:solidFill>
            <a:srgbClr val="25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dirty="0">
                <a:solidFill>
                  <a:srgbClr val="A4B8CA"/>
                </a:solidFill>
                <a:latin typeface="Aptos"/>
              </a:rPr>
              <a:t>Our starting point was a fragmented travel-planning experience and a limited project timeline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1696719"/>
            <a:ext cx="3474720" cy="201168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869513"/>
            <a:ext cx="318211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25BEAE"/>
                </a:solidFill>
                <a:latin typeface="Aptos"/>
              </a:rPr>
              <a:t>User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8608" y="4833838"/>
            <a:ext cx="7854696" cy="24006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dirty="0">
                <a:solidFill>
                  <a:srgbClr val="E2EBF3"/>
                </a:solidFill>
                <a:latin typeface="Aptos"/>
              </a:rPr>
              <a:t>Travel details can be spread across search, booking, mapping, and note-taking tools.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828800"/>
            <a:ext cx="3474720" cy="201168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17136" y="1956816"/>
            <a:ext cx="318211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25BEAE"/>
                </a:solidFill>
                <a:latin typeface="Aptos"/>
              </a:rPr>
              <a:t>Team Constraints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2350008"/>
            <a:ext cx="3182112" cy="1399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dirty="0">
                <a:solidFill>
                  <a:srgbClr val="E2EBF3"/>
                </a:solidFill>
                <a:latin typeface="Aptos"/>
              </a:rPr>
              <a:t>We had a fixed assessment deadline and needed to coordinate four roles across the full-stack build.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474720" cy="201168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93024" y="1956816"/>
            <a:ext cx="318211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25BEAE"/>
                </a:solidFill>
                <a:latin typeface="Aptos"/>
              </a:rPr>
              <a:t>Learning Journey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4" y="2350008"/>
            <a:ext cx="3182112" cy="1399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E2EBF3"/>
                </a:solidFill>
                <a:latin typeface="Aptos"/>
              </a:rPr>
              <a:t>The project brought frontend, backend, database, requirements, and testing work together in one application.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828800"/>
            <a:ext cx="228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800" b="1">
                <a:solidFill>
                  <a:srgbClr val="25BEAE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4736" y="4106527"/>
            <a:ext cx="265176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Our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4088819"/>
            <a:ext cx="768096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dirty="0">
                <a:solidFill>
                  <a:srgbClr val="E2EBF3"/>
                </a:solidFill>
                <a:latin typeface="Aptos"/>
              </a:rPr>
              <a:t>Focus on a clear core journey first, then identify enhancements for later development.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4867658"/>
            <a:ext cx="265176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Scope discipline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447036"/>
            <a:ext cx="2961640" cy="65556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dirty="0">
                <a:solidFill>
                  <a:srgbClr val="E2EBF3"/>
                </a:solidFill>
                <a:latin typeface="Aptos"/>
              </a:rPr>
              <a:t>Booking and payments remain future work; we distinguish implemented functionality from planned features.</a:t>
            </a:r>
          </a:p>
        </p:txBody>
      </p:sp>
    </p:spTree>
    <p:extLst>
      <p:ext uri="{BB962C8B-B14F-4D97-AF65-F5344CB8AC3E}">
        <p14:creationId xmlns:p14="http://schemas.microsoft.com/office/powerpoint/2010/main" val="2994296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Product Overview — TripMate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0292"/>
          </a:xfrm>
          <a:prstGeom prst="rect">
            <a:avLst/>
          </a:prstGeom>
          <a:solidFill>
            <a:srgbClr val="25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A4B8CA"/>
                </a:solidFill>
                <a:latin typeface="Aptos"/>
              </a:rPr>
              <a:t>Why a customer should consider TripMate as a foundation for a more connected trip-planning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474720" cy="196596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892808"/>
            <a:ext cx="318211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25BEAE"/>
                </a:solidFill>
                <a:latin typeface="Aptos"/>
              </a:rPr>
              <a:t>Discover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462276"/>
            <a:ext cx="3182112" cy="135331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dirty="0">
                <a:solidFill>
                  <a:srgbClr val="E2EBF3"/>
                </a:solidFill>
                <a:latin typeface="Aptos"/>
              </a:rPr>
              <a:t>Browse destination ideas and popular destination cards.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828800"/>
            <a:ext cx="3474720" cy="196596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17136" y="1956816"/>
            <a:ext cx="318211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25BEAE"/>
                </a:solidFill>
                <a:latin typeface="Aptos"/>
              </a:rPr>
              <a:t>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2350008"/>
            <a:ext cx="3182112" cy="135331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E2EBF3"/>
                </a:solidFill>
                <a:latin typeface="Aptos"/>
              </a:rPr>
              <a:t>Enter destination, travel dates, and guest details to organise a trip search.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474720" cy="196596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93024" y="1956816"/>
            <a:ext cx="318211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25BEAE"/>
                </a:solidFill>
                <a:latin typeface="Aptos"/>
              </a:rPr>
              <a:t>Access &amp; Manage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4" y="2350008"/>
            <a:ext cx="3182112" cy="135331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E2EBF3"/>
                </a:solidFill>
                <a:latin typeface="Aptos"/>
              </a:rPr>
              <a:t>Use account authentication and a connected application structure for trip information.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828800"/>
            <a:ext cx="228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800" b="1">
                <a:solidFill>
                  <a:srgbClr val="25BEAE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560" y="4142232"/>
            <a:ext cx="265176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Customer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4193540"/>
            <a:ext cx="768096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dirty="0">
                <a:solidFill>
                  <a:srgbClr val="E2EBF3"/>
                </a:solidFill>
                <a:latin typeface="Aptos"/>
              </a:rPr>
              <a:t>One consistent interface can reduce the effort of switching between separate planning tools.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496312"/>
            <a:ext cx="228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800" b="1">
                <a:solidFill>
                  <a:srgbClr val="25BEAE"/>
                </a:solidFill>
                <a:latin typeface="Apto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847844"/>
            <a:ext cx="265176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Strengths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4770120"/>
            <a:ext cx="768096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dirty="0">
                <a:solidFill>
                  <a:srgbClr val="E2EBF3"/>
                </a:solidFill>
                <a:latin typeface="Aptos"/>
              </a:rPr>
              <a:t>Clear user journey, separated application layers, API-based communication, and team use of version control.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685536"/>
            <a:ext cx="265176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Scope note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22320" y="5743448"/>
            <a:ext cx="768096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>
                <a:solidFill>
                  <a:srgbClr val="E2EBF3"/>
                </a:solidFill>
                <a:latin typeface="Aptos"/>
              </a:rPr>
              <a:t>Live booking and payment processing are not implemented in the current scope.</a:t>
            </a:r>
          </a:p>
        </p:txBody>
      </p:sp>
    </p:spTree>
    <p:extLst>
      <p:ext uri="{BB962C8B-B14F-4D97-AF65-F5344CB8AC3E}">
        <p14:creationId xmlns:p14="http://schemas.microsoft.com/office/powerpoint/2010/main" val="1769873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769144"/>
            <a:ext cx="10752067" cy="449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TripMate User Journey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3122" y="1420614"/>
            <a:ext cx="7285351" cy="27338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39622" y="3490814"/>
            <a:ext cx="1098852" cy="211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Discover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954769" y="3490814"/>
            <a:ext cx="1098851" cy="211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577441" y="3384972"/>
            <a:ext cx="1098851" cy="423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Authenticate (JWT)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200114" y="3384972"/>
            <a:ext cx="1098851" cy="423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Register / Login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792681" y="3490814"/>
            <a:ext cx="1098851" cy="211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Start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9814" y="4267795"/>
            <a:ext cx="10752067" cy="391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core journey is structured around authenticated access. Booking functionality is </a:t>
            </a:r>
            <a:r>
              <a:rPr lang="en-US" sz="11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planned</a:t>
            </a: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and not yet implemented. All intermediate states are subject to verification against current build status.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094854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26963"/>
            <a:ext cx="10752067" cy="546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TripMate Frontend Experience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19814" y="1470422"/>
            <a:ext cx="3678840" cy="265609"/>
          </a:xfrm>
          <a:prstGeom prst="roundRect">
            <a:avLst>
              <a:gd name="adj" fmla="val 22117"/>
            </a:avLst>
          </a:prstGeom>
          <a:solidFill>
            <a:srgbClr val="001D4D"/>
          </a:solidFill>
          <a:ln/>
        </p:spPr>
      </p:sp>
      <p:sp>
        <p:nvSpPr>
          <p:cNvPr id="4" name="Text 2"/>
          <p:cNvSpPr/>
          <p:nvPr/>
        </p:nvSpPr>
        <p:spPr>
          <a:xfrm>
            <a:off x="824686" y="1522809"/>
            <a:ext cx="4078682" cy="160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FRONTEND DEVELOPMENT 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9814" y="2051745"/>
            <a:ext cx="5162818" cy="27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5F0F0"/>
                </a:solidFill>
                <a:latin typeface="Merriweather"/>
                <a:ea typeface="Merriweather" pitchFamily="34" charset="-122"/>
                <a:cs typeface="Merriweather" pitchFamily="34" charset="-120"/>
              </a:rPr>
              <a:t>Actual Homepage Elements</a:t>
            </a:r>
            <a:endParaRPr lang="en-US" sz="1700" dirty="0">
              <a:latin typeface="Merriweather"/>
            </a:endParaRPr>
          </a:p>
        </p:txBody>
      </p:sp>
      <p:sp>
        <p:nvSpPr>
          <p:cNvPr id="6" name="Text 4"/>
          <p:cNvSpPr/>
          <p:nvPr/>
        </p:nvSpPr>
        <p:spPr>
          <a:xfrm>
            <a:off x="719814" y="2473424"/>
            <a:ext cx="5162818" cy="1759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3000"/>
              </a:lnSpc>
              <a:buSzPct val="100000"/>
              <a:buChar char="•"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Hero headline: </a:t>
            </a:r>
            <a:r>
              <a:rPr lang="en-US" sz="13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"Discover Your Next Adventure"</a:t>
            </a:r>
            <a:endParaRPr lang="en-US" sz="1350" dirty="0"/>
          </a:p>
          <a:p>
            <a:pPr marL="274320" indent="-274320" algn="l">
              <a:lnSpc>
                <a:spcPct val="123000"/>
              </a:lnSpc>
              <a:buSzPct val="100000"/>
              <a:buChar char="•"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Search fields: Destination, Check-in / Check-out, Guests</a:t>
            </a:r>
            <a:endParaRPr lang="en-US" sz="1350" dirty="0"/>
          </a:p>
          <a:p>
            <a:pPr marL="274320" indent="-274320" algn="l">
              <a:lnSpc>
                <a:spcPct val="123000"/>
              </a:lnSpc>
              <a:buSzPct val="100000"/>
              <a:buChar char="•"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Primary CTA: </a:t>
            </a:r>
            <a:r>
              <a:rPr lang="en-US" sz="13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Search</a:t>
            </a: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button</a:t>
            </a:r>
            <a:endParaRPr lang="en-US" sz="1350" dirty="0"/>
          </a:p>
          <a:p>
            <a:pPr marL="274320" indent="-274320" algn="l">
              <a:lnSpc>
                <a:spcPct val="123000"/>
              </a:lnSpc>
              <a:buSzPct val="100000"/>
              <a:buChar char="•"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Section: </a:t>
            </a:r>
            <a:r>
              <a:rPr lang="en-US" sz="13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Popular Destinations</a:t>
            </a:r>
            <a:endParaRPr lang="en-US" sz="1350" dirty="0"/>
          </a:p>
          <a:p>
            <a:pPr marL="274320" indent="-274320" algn="l">
              <a:lnSpc>
                <a:spcPct val="123000"/>
              </a:lnSpc>
              <a:buSzPct val="100000"/>
              <a:buChar char="•"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Destination cards: Amalfi Coast · Kyoto Gardens · Swiss Alps · Mykonos Breeze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364426" y="2865834"/>
            <a:ext cx="5064792" cy="413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287926" y="5018881"/>
            <a:ext cx="10009136" cy="1034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3000"/>
              </a:lnSpc>
            </a:pPr>
            <a:endParaRPr lang="en-US" sz="1350" dirty="0">
              <a:solidFill>
                <a:srgbClr val="FFFFFF"/>
              </a:solidFill>
              <a:latin typeface="Merriweather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29BEF26-693A-9C9F-C524-44849C0AC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496" y="1522809"/>
            <a:ext cx="5504651" cy="4580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61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0292"/>
          </a:xfrm>
          <a:prstGeom prst="rect">
            <a:avLst/>
          </a:prstGeom>
          <a:solidFill>
            <a:srgbClr val="25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A4B8CA"/>
                </a:solidFill>
                <a:latin typeface="Aptos"/>
              </a:rPr>
              <a:t>A layered design separates user interaction, application logic, and stored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48840"/>
            <a:ext cx="3337560" cy="138176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0664" y="2276856"/>
            <a:ext cx="304495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25BEAE"/>
                </a:solidFill>
                <a:latin typeface="Aptos"/>
              </a:rPr>
              <a:t>Frontend — React.js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2670048"/>
            <a:ext cx="3044952" cy="14447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E2EBF3"/>
                </a:solidFill>
                <a:latin typeface="Aptos"/>
              </a:rPr>
              <a:t>Renders the interface and collects user inputs for destination and trip planning.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" y="3708908"/>
            <a:ext cx="3337560" cy="1371092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2338" y="3809492"/>
            <a:ext cx="304495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25BEAE"/>
                </a:solidFill>
                <a:latin typeface="Aptos"/>
              </a:rPr>
              <a:t>Backend — .NET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364736"/>
            <a:ext cx="3044952" cy="14447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E2EBF3"/>
                </a:solidFill>
                <a:latin typeface="Aptos"/>
              </a:rPr>
              <a:t>Provides API endpoints, application logic, and authentication integration.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" y="5190744"/>
            <a:ext cx="3337560" cy="1410716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5248656"/>
            <a:ext cx="304495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25BEAE"/>
                </a:solidFill>
                <a:latin typeface="Aptos"/>
              </a:rPr>
              <a:t>Database —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" y="5751576"/>
            <a:ext cx="3044952" cy="14447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dirty="0">
                <a:solidFill>
                  <a:srgbClr val="E2EBF3"/>
                </a:solidFill>
                <a:latin typeface="Aptos"/>
              </a:rPr>
              <a:t>Stores structured application information; Entity Framework Core supports data access.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8616" y="2441448"/>
            <a:ext cx="6094984" cy="3768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605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Technologies &amp; Development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0292"/>
          </a:xfrm>
          <a:prstGeom prst="rect">
            <a:avLst/>
          </a:prstGeom>
          <a:solidFill>
            <a:srgbClr val="25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A4B8CA"/>
                </a:solidFill>
                <a:latin typeface="Aptos"/>
              </a:rPr>
              <a:t>Each technology supports a distinct part of the product and team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743200" cy="196596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23544" y="1867916"/>
            <a:ext cx="245059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25BEAE"/>
                </a:solidFill>
                <a:latin typeface="Aptos"/>
              </a:rPr>
              <a:t>React.js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2350008"/>
            <a:ext cx="2450592" cy="135331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E2EBF3"/>
                </a:solidFill>
                <a:latin typeface="Aptos"/>
              </a:rPr>
              <a:t>Reusable UI components support a consistent and maintainable frontend.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828800"/>
            <a:ext cx="2743200" cy="196596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66744" y="1956816"/>
            <a:ext cx="245059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25BEAE"/>
                </a:solidFill>
                <a:latin typeface="Aptos"/>
              </a:rPr>
              <a:t>.NET 8 + EF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9736" y="2494258"/>
            <a:ext cx="2387600" cy="4247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dirty="0">
                <a:solidFill>
                  <a:srgbClr val="E2EBF3"/>
                </a:solidFill>
                <a:latin typeface="Aptos"/>
              </a:rPr>
              <a:t>API and business logic are separated from data access.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828800"/>
            <a:ext cx="2331720" cy="196596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92824" y="1956816"/>
            <a:ext cx="203911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25BEAE"/>
                </a:solidFill>
                <a:latin typeface="Aptos"/>
              </a:rPr>
              <a:t>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2824" y="2350008"/>
            <a:ext cx="2039112" cy="135331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E2EBF3"/>
                </a:solidFill>
                <a:latin typeface="Aptos"/>
              </a:rPr>
              <a:t>Relational storage for structured application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828800"/>
            <a:ext cx="2651760" cy="196596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07424" y="1956816"/>
            <a:ext cx="235915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25BEAE"/>
                </a:solidFill>
                <a:latin typeface="Aptos"/>
              </a:rPr>
              <a:t>Swagger / OpenAPI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07424" y="2350008"/>
            <a:ext cx="2359152" cy="135331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E2EBF3"/>
                </a:solidFill>
                <a:latin typeface="Aptos"/>
              </a:rPr>
              <a:t>Documents endpoints and supports manual API exploration.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1828800"/>
            <a:ext cx="228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800" b="1">
                <a:solidFill>
                  <a:srgbClr val="25BEAE"/>
                </a:solidFill>
                <a:latin typeface="Apto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114800"/>
            <a:ext cx="265176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GitHub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4178808"/>
            <a:ext cx="768096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dirty="0">
                <a:solidFill>
                  <a:srgbClr val="E2EBF3"/>
                </a:solidFill>
                <a:latin typeface="Aptos"/>
              </a:rPr>
              <a:t>Version history, code sharing, and collaboration across team members.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919472"/>
            <a:ext cx="265176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Jira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919472"/>
            <a:ext cx="768096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dirty="0">
                <a:solidFill>
                  <a:srgbClr val="E2EBF3"/>
                </a:solidFill>
                <a:latin typeface="Aptos"/>
              </a:rPr>
              <a:t>Task allocation, progress tracking, and issue management.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" y="5724144"/>
            <a:ext cx="265176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Agile/Scrum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5724144"/>
            <a:ext cx="768096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dirty="0">
                <a:solidFill>
                  <a:srgbClr val="E2EBF3"/>
                </a:solidFill>
                <a:latin typeface="Aptos"/>
              </a:rPr>
              <a:t>Iterative planning, development, testing, review, and improvement.</a:t>
            </a:r>
          </a:p>
        </p:txBody>
      </p:sp>
    </p:spTree>
    <p:extLst>
      <p:ext uri="{BB962C8B-B14F-4D97-AF65-F5344CB8AC3E}">
        <p14:creationId xmlns:p14="http://schemas.microsoft.com/office/powerpoint/2010/main" val="1113315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Security &amp; Risk Mitigation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0292"/>
          </a:xfrm>
          <a:prstGeom prst="rect">
            <a:avLst/>
          </a:prstGeom>
          <a:solidFill>
            <a:srgbClr val="25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A4B8CA"/>
                </a:solidFill>
                <a:latin typeface="Aptos"/>
              </a:rPr>
              <a:t>Security is part of the user journey, not an add-on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7652" y="1837944"/>
            <a:ext cx="3474720" cy="201168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0844" y="1855724"/>
            <a:ext cx="318211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25BEAE"/>
                </a:solidFill>
                <a:latin typeface="Aptos"/>
              </a:rPr>
              <a:t>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2350008"/>
            <a:ext cx="3182112" cy="1399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dirty="0">
                <a:solidFill>
                  <a:srgbClr val="E2EBF3"/>
                </a:solidFill>
                <a:latin typeface="Aptos"/>
              </a:rPr>
              <a:t>ASP.NET Identity manages user accounts; JWT supports authenticated API access.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828800"/>
            <a:ext cx="3474720" cy="201168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17136" y="1956816"/>
            <a:ext cx="318211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25BEAE"/>
                </a:solidFill>
                <a:latin typeface="Aptos"/>
              </a:rPr>
              <a:t>Access Risks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2350008"/>
            <a:ext cx="3182112" cy="1399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dirty="0" err="1">
                <a:solidFill>
                  <a:srgbClr val="E2EBF3"/>
                </a:solidFill>
                <a:latin typeface="Aptos"/>
              </a:rPr>
              <a:t>Unauthorised</a:t>
            </a:r>
            <a:r>
              <a:rPr sz="1200" b="0" dirty="0">
                <a:solidFill>
                  <a:srgbClr val="E2EBF3"/>
                </a:solidFill>
                <a:latin typeface="Aptos"/>
              </a:rPr>
              <a:t> access or weak token handling could expose protected user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474720" cy="201168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93024" y="1956816"/>
            <a:ext cx="318211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25BEAE"/>
                </a:solidFill>
                <a:latin typeface="Aptos"/>
              </a:rPr>
              <a:t>Mitigation 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4" y="2350008"/>
            <a:ext cx="3182112" cy="1399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E2EBF3"/>
                </a:solidFill>
                <a:latin typeface="Aptos"/>
              </a:rPr>
              <a:t>Validate authentication and authorisation, protect secrets, validate inputs, and avoid exposing sensitive errors.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828800"/>
            <a:ext cx="228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800" b="1">
                <a:solidFill>
                  <a:srgbClr val="25BEAE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242308"/>
            <a:ext cx="265176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0700" y="4224528"/>
            <a:ext cx="768096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dirty="0">
                <a:solidFill>
                  <a:srgbClr val="E2EBF3"/>
                </a:solidFill>
                <a:latin typeface="Aptos"/>
              </a:rPr>
              <a:t>Confirm security </a:t>
            </a:r>
            <a:r>
              <a:rPr sz="1300" b="0" dirty="0" err="1">
                <a:solidFill>
                  <a:srgbClr val="E2EBF3"/>
                </a:solidFill>
                <a:latin typeface="Aptos"/>
              </a:rPr>
              <a:t>behaviour</a:t>
            </a:r>
            <a:r>
              <a:rPr sz="1300" b="0" dirty="0">
                <a:solidFill>
                  <a:srgbClr val="E2EBF3"/>
                </a:solidFill>
                <a:latin typeface="Aptos"/>
              </a:rPr>
              <a:t> against the actual implementation before claiming every mitigation is complete.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256" y="4901184"/>
            <a:ext cx="265176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Future hardening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1368" y="4987544"/>
            <a:ext cx="768096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dirty="0">
                <a:solidFill>
                  <a:srgbClr val="E2EBF3"/>
                </a:solidFill>
                <a:latin typeface="Aptos"/>
              </a:rPr>
              <a:t>Add automated security checks, stronger logging/monitoring, and review dependency updates.</a:t>
            </a:r>
          </a:p>
        </p:txBody>
      </p:sp>
    </p:spTree>
    <p:extLst>
      <p:ext uri="{BB962C8B-B14F-4D97-AF65-F5344CB8AC3E}">
        <p14:creationId xmlns:p14="http://schemas.microsoft.com/office/powerpoint/2010/main" val="2870023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79934"/>
            <a:ext cx="10752067" cy="404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Architecture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19814" y="1322388"/>
            <a:ext cx="5218081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Conceptual Entity Relationships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001" y="1616472"/>
            <a:ext cx="3391708" cy="33917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60150" y="1188641"/>
            <a:ext cx="5218081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Nikesh — Data Workflow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260150" y="1482725"/>
            <a:ext cx="258954" cy="1618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260150" y="1683742"/>
            <a:ext cx="5218081" cy="19050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8" name="Text 5"/>
          <p:cNvSpPr/>
          <p:nvPr/>
        </p:nvSpPr>
        <p:spPr>
          <a:xfrm>
            <a:off x="6260150" y="1786533"/>
            <a:ext cx="5218081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Collect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260150" y="2070497"/>
            <a:ext cx="5218081" cy="168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Identify and gather relevant travel data requirements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260150" y="2417961"/>
            <a:ext cx="258954" cy="1618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60150" y="2618978"/>
            <a:ext cx="5218081" cy="19050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12" name="Text 9"/>
          <p:cNvSpPr/>
          <p:nvPr/>
        </p:nvSpPr>
        <p:spPr>
          <a:xfrm>
            <a:off x="6260150" y="2721769"/>
            <a:ext cx="5218081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Clean &amp; Organise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260150" y="3005733"/>
            <a:ext cx="5218081" cy="168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Standardise, validate, and structure raw data inputs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260150" y="3353197"/>
            <a:ext cx="258954" cy="1618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60150" y="3554214"/>
            <a:ext cx="5218081" cy="19050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16" name="Text 13"/>
          <p:cNvSpPr/>
          <p:nvPr/>
        </p:nvSpPr>
        <p:spPr>
          <a:xfrm>
            <a:off x="6260150" y="3657005"/>
            <a:ext cx="5218081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Analyse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260150" y="3940969"/>
            <a:ext cx="5218081" cy="168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Assess data relationships and quality to inform design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260150" y="4288433"/>
            <a:ext cx="258954" cy="1618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260150" y="4489450"/>
            <a:ext cx="5218081" cy="19050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20" name="Text 17"/>
          <p:cNvSpPr/>
          <p:nvPr/>
        </p:nvSpPr>
        <p:spPr>
          <a:xfrm>
            <a:off x="6260150" y="4592241"/>
            <a:ext cx="5218081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Integrate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260150" y="4876205"/>
            <a:ext cx="5218081" cy="168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Map structured data into database and application layers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19814" y="5325467"/>
            <a:ext cx="11361652" cy="13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endParaRPr lang="en-US" sz="800" i="1" dirty="0">
              <a:solidFill>
                <a:srgbClr val="E2E6E9"/>
              </a:solidFill>
              <a:latin typeface="Merriweather"/>
            </a:endParaRPr>
          </a:p>
        </p:txBody>
      </p:sp>
    </p:spTree>
    <p:extLst>
      <p:ext uri="{BB962C8B-B14F-4D97-AF65-F5344CB8AC3E}">
        <p14:creationId xmlns:p14="http://schemas.microsoft.com/office/powerpoint/2010/main" val="3648286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06524"/>
            <a:ext cx="10752067" cy="404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From Requirements to Quality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19814" y="1174452"/>
            <a:ext cx="2430898" cy="196652"/>
          </a:xfrm>
          <a:prstGeom prst="roundRect">
            <a:avLst>
              <a:gd name="adj" fmla="val 22130"/>
            </a:avLst>
          </a:prstGeom>
          <a:solidFill>
            <a:srgbClr val="001D4D"/>
          </a:solidFill>
          <a:ln/>
        </p:spPr>
      </p:sp>
      <p:sp>
        <p:nvSpPr>
          <p:cNvPr id="4" name="Text 2"/>
          <p:cNvSpPr/>
          <p:nvPr/>
        </p:nvSpPr>
        <p:spPr>
          <a:xfrm>
            <a:off x="797500" y="1213247"/>
            <a:ext cx="288511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BUSINESS ANALYSIS &amp; TESTING — SUSMITA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19814" y="1544340"/>
            <a:ext cx="5218081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Requirements Pipeline</a:t>
            </a:r>
            <a:endParaRPr lang="en-US" sz="1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4" y="1838424"/>
            <a:ext cx="647585" cy="7770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8954" y="1967905"/>
            <a:ext cx="4488941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User Need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14" y="2615505"/>
            <a:ext cx="647585" cy="77708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48954" y="2744986"/>
            <a:ext cx="4488941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Business Requirement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814" y="3392587"/>
            <a:ext cx="647585" cy="77708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48954" y="3522067"/>
            <a:ext cx="4488941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Functional &amp; Non-Functional Spec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814" y="4169668"/>
            <a:ext cx="647585" cy="77708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48954" y="4299148"/>
            <a:ext cx="4488941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System Design → Development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6260150" y="1544340"/>
            <a:ext cx="5218081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Quality Assurance Cycle</a:t>
            </a:r>
            <a:endParaRPr lang="en-US" sz="12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150" y="1838424"/>
            <a:ext cx="647585" cy="77708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89290" y="1967905"/>
            <a:ext cx="4488941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Requirement</a:t>
            </a:r>
            <a:endParaRPr lang="en-US" sz="12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0150" y="2615505"/>
            <a:ext cx="647585" cy="777081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989290" y="2744986"/>
            <a:ext cx="4488941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Development</a:t>
            </a:r>
            <a:endParaRPr lang="en-US" sz="12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0150" y="3392587"/>
            <a:ext cx="647585" cy="777081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989290" y="3522067"/>
            <a:ext cx="4488941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Test → Defect Identified?</a:t>
            </a:r>
            <a:endParaRPr lang="en-US" sz="125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0150" y="4169668"/>
            <a:ext cx="647585" cy="777081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989290" y="4299148"/>
            <a:ext cx="4488941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Fix → Retest → Validate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560874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Quality Assurance &amp; Maintainability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0292"/>
          </a:xfrm>
          <a:prstGeom prst="rect">
            <a:avLst/>
          </a:prstGeom>
          <a:solidFill>
            <a:srgbClr val="25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A4B8CA"/>
                </a:solidFill>
                <a:latin typeface="Aptos"/>
              </a:rPr>
              <a:t>Quality practices should connect requirements, code changes, and verified behaviour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474720" cy="201168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865376"/>
            <a:ext cx="318211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25BEAE"/>
                </a:solidFill>
                <a:latin typeface="Aptos"/>
              </a:rPr>
              <a:t>Functional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2350008"/>
            <a:ext cx="3182112" cy="1399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E2EBF3"/>
                </a:solidFill>
                <a:latin typeface="Aptos"/>
              </a:rPr>
              <a:t>Verify key user journeys and form validation against stated requirements.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828800"/>
            <a:ext cx="3474720" cy="201168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17136" y="1956816"/>
            <a:ext cx="318211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25BEAE"/>
                </a:solidFill>
                <a:latin typeface="Aptos"/>
              </a:rPr>
              <a:t>Integration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2350008"/>
            <a:ext cx="3182112" cy="1399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E2EBF3"/>
                </a:solidFill>
                <a:latin typeface="Aptos"/>
              </a:rPr>
              <a:t>Check React-to-API communication and API-to-database operations.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474720" cy="201168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93024" y="1956816"/>
            <a:ext cx="318211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25BEAE"/>
                </a:solidFill>
                <a:latin typeface="Aptos"/>
              </a:rPr>
              <a:t>Maintainability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4" y="2350008"/>
            <a:ext cx="3182112" cy="1399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E2EBF3"/>
                </a:solidFill>
                <a:latin typeface="Aptos"/>
              </a:rPr>
              <a:t>Use clear component/service boundaries, consistent naming, and documented API endpoints.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828800"/>
            <a:ext cx="228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800" b="1">
                <a:solidFill>
                  <a:srgbClr val="25BEAE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4134612"/>
            <a:ext cx="265176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Test 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4416552"/>
            <a:ext cx="768096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dirty="0">
                <a:solidFill>
                  <a:srgbClr val="E2EBF3"/>
                </a:solidFill>
                <a:latin typeface="Aptos"/>
              </a:rPr>
              <a:t>Requirement → test → record result/defect → fix → retest → validate.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760" y="4919472"/>
            <a:ext cx="265176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Unit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5166360"/>
            <a:ext cx="768096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dirty="0">
                <a:solidFill>
                  <a:srgbClr val="E2EBF3"/>
                </a:solidFill>
                <a:latin typeface="Aptos"/>
              </a:rPr>
              <a:t>Unit tests are an identified improvement area unless the team can show completed test evidence.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" y="5679948"/>
            <a:ext cx="265176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Demo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5937504"/>
            <a:ext cx="768096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dirty="0">
                <a:solidFill>
                  <a:srgbClr val="E2EBF3"/>
                </a:solidFill>
                <a:latin typeface="Aptos"/>
              </a:rPr>
              <a:t>Bring screenshots or a brief test checklist showing pass/fail results from the final build.</a:t>
            </a:r>
          </a:p>
        </p:txBody>
      </p:sp>
    </p:spTree>
    <p:extLst>
      <p:ext uri="{BB962C8B-B14F-4D97-AF65-F5344CB8AC3E}">
        <p14:creationId xmlns:p14="http://schemas.microsoft.com/office/powerpoint/2010/main" val="1865383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Development Process: Agile, GitHub &amp; Jira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0292"/>
          </a:xfrm>
          <a:prstGeom prst="rect">
            <a:avLst/>
          </a:prstGeom>
          <a:solidFill>
            <a:srgbClr val="25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A4B8CA"/>
                </a:solidFill>
                <a:latin typeface="Aptos"/>
              </a:rPr>
              <a:t>The team used a collaborative, iterative approach to coordinate a full-stack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743200" cy="205740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75663"/>
            <a:ext cx="245059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25BEAE"/>
                </a:solidFill>
                <a:latin typeface="Aptos"/>
              </a:rPr>
              <a:t>Agile / Scrum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2350008"/>
            <a:ext cx="2450592" cy="14447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E2EBF3"/>
                </a:solidFill>
                <a:latin typeface="Aptos"/>
              </a:rPr>
              <a:t>Plan → prioritise → develop → test → review → improve. Adapt tasks as the build evolves.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828800"/>
            <a:ext cx="2743200" cy="205740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66744" y="1956816"/>
            <a:ext cx="245059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25BEAE"/>
                </a:solidFill>
                <a:latin typeface="Aptos"/>
              </a:rPr>
              <a:t>Jira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66744" y="2350008"/>
            <a:ext cx="2450592" cy="14447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E2EBF3"/>
                </a:solidFill>
                <a:latin typeface="Aptos"/>
              </a:rPr>
              <a:t>Break work into clear tasks, assign owners, track progress, and raise blockers early.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828800"/>
            <a:ext cx="2331720" cy="205740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92824" y="1956816"/>
            <a:ext cx="203911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25BEAE"/>
                </a:solidFill>
                <a:latin typeface="Aptos"/>
              </a:rPr>
              <a:t>GitHub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2824" y="2350008"/>
            <a:ext cx="2039112" cy="14447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E2EBF3"/>
                </a:solidFill>
                <a:latin typeface="Aptos"/>
              </a:rPr>
              <a:t>Use small, traceable commits and review changes together.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828800"/>
            <a:ext cx="2651760" cy="205740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07424" y="1956816"/>
            <a:ext cx="235915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25BEAE"/>
                </a:solidFill>
                <a:latin typeface="Aptos"/>
              </a:rPr>
              <a:t>Equal Contribution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07424" y="2350008"/>
            <a:ext cx="2359152" cy="14447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E2EBF3"/>
                </a:solidFill>
                <a:latin typeface="Aptos"/>
              </a:rPr>
              <a:t>Split work across frontend, backend, database, and business analysis/testing.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1828800"/>
            <a:ext cx="228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800" b="1">
                <a:solidFill>
                  <a:srgbClr val="25BEAE"/>
                </a:solidFill>
                <a:latin typeface="Apto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464" y="4697857"/>
            <a:ext cx="265176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Commit messages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91256" y="4624515"/>
            <a:ext cx="768096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dirty="0">
                <a:solidFill>
                  <a:srgbClr val="E2EBF3"/>
                </a:solidFill>
                <a:latin typeface="Aptos"/>
              </a:rPr>
              <a:t>Suggested convention: feat: add trip search; fix: validate login; docs: update README. Check actual history before presenting examples as used.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347209"/>
            <a:ext cx="265176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Task grooming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91256" y="5248783"/>
            <a:ext cx="768096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dirty="0">
                <a:solidFill>
                  <a:srgbClr val="E2EBF3"/>
                </a:solidFill>
                <a:latin typeface="Aptos"/>
              </a:rPr>
              <a:t>Clarify acceptance criteria, estimate effort, </a:t>
            </a:r>
            <a:r>
              <a:rPr sz="1300" b="0" dirty="0" err="1">
                <a:solidFill>
                  <a:srgbClr val="E2EBF3"/>
                </a:solidFill>
                <a:latin typeface="Aptos"/>
              </a:rPr>
              <a:t>prioritise</a:t>
            </a:r>
            <a:r>
              <a:rPr sz="1300" b="0" dirty="0">
                <a:solidFill>
                  <a:srgbClr val="E2EBF3"/>
                </a:solidFill>
                <a:latin typeface="Aptos"/>
              </a:rPr>
              <a:t> core journeys, and allocate tasks by role and availability.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56934"/>
            <a:ext cx="265176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Mythical Man-Month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49600" y="5871718"/>
            <a:ext cx="768096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dirty="0">
                <a:solidFill>
                  <a:srgbClr val="E2EBF3"/>
                </a:solidFill>
                <a:latin typeface="Aptos"/>
              </a:rPr>
              <a:t>Late additions can increase onboarding and communication overhead. Small tasks and early integration reduce coordination risk.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048506"/>
            <a:ext cx="265176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Adaptive teamwork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91256" y="4070350"/>
            <a:ext cx="768096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dirty="0">
                <a:solidFill>
                  <a:srgbClr val="E2EBF3"/>
                </a:solidFill>
                <a:latin typeface="Aptos"/>
              </a:rPr>
              <a:t>Share progress, raise blockers early, integrate often, and adjust priorities when constraints or defects appear.</a:t>
            </a:r>
          </a:p>
        </p:txBody>
      </p:sp>
    </p:spTree>
    <p:extLst>
      <p:ext uri="{BB962C8B-B14F-4D97-AF65-F5344CB8AC3E}">
        <p14:creationId xmlns:p14="http://schemas.microsoft.com/office/powerpoint/2010/main" val="6119126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Software Demonstration: The Core User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0292"/>
          </a:xfrm>
          <a:prstGeom prst="rect">
            <a:avLst/>
          </a:prstGeom>
          <a:solidFill>
            <a:srgbClr val="25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9496" y="1671574"/>
            <a:ext cx="3474720" cy="201168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" y="1824228"/>
            <a:ext cx="318211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25BEAE"/>
                </a:solidFill>
                <a:latin typeface="Aptos"/>
              </a:rPr>
              <a:t>1. Open the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2724" y="2306066"/>
            <a:ext cx="2398776" cy="4247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dirty="0">
                <a:solidFill>
                  <a:srgbClr val="E2EBF3"/>
                </a:solidFill>
                <a:latin typeface="Aptos"/>
              </a:rPr>
              <a:t>Show the homepage, destination cards, and visible search fields.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4528" y="1677924"/>
            <a:ext cx="3474720" cy="201168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7268" y="1956002"/>
            <a:ext cx="318211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25BEAE"/>
                </a:solidFill>
                <a:latin typeface="Aptos"/>
              </a:rPr>
              <a:t>2. Show User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6316" y="2485845"/>
            <a:ext cx="2733548" cy="60939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dirty="0">
                <a:solidFill>
                  <a:srgbClr val="E2EBF3"/>
                </a:solidFill>
                <a:latin typeface="Aptos"/>
              </a:rPr>
              <a:t>Demonstrate registration/login if working, then enter destination, dates, and guest details.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74519"/>
            <a:ext cx="3474720" cy="201168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93024" y="2002536"/>
            <a:ext cx="318211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25BEAE"/>
                </a:solidFill>
                <a:latin typeface="Aptos"/>
              </a:rPr>
              <a:t>3. Explain the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4" y="2395727"/>
            <a:ext cx="3182112" cy="1399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E2EBF3"/>
                </a:solidFill>
                <a:latin typeface="Aptos"/>
              </a:rPr>
              <a:t>Show the response or trip/itinerary state available in the build; explain any incomplete step honestly.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828800"/>
            <a:ext cx="228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800" b="1">
                <a:solidFill>
                  <a:srgbClr val="25BEAE"/>
                </a:solidFill>
                <a:latin typeface="Aptos"/>
              </a:rPr>
              <a:t>•</a:t>
            </a:r>
          </a:p>
        </p:txBody>
      </p:sp>
    </p:spTree>
    <p:extLst>
      <p:ext uri="{BB962C8B-B14F-4D97-AF65-F5344CB8AC3E}">
        <p14:creationId xmlns:p14="http://schemas.microsoft.com/office/powerpoint/2010/main" val="4043256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Limitations &amp; 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0292"/>
          </a:xfrm>
          <a:prstGeom prst="rect">
            <a:avLst/>
          </a:prstGeom>
          <a:solidFill>
            <a:srgbClr val="25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A4B8CA"/>
                </a:solidFill>
                <a:latin typeface="Aptos"/>
              </a:rPr>
              <a:t>Prioritise the core experience, then extend the product in measurable phases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474720" cy="210312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4108" y="1868170"/>
            <a:ext cx="318211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25BEAE"/>
                </a:solidFill>
                <a:latin typeface="Aptos"/>
              </a:rPr>
              <a:t>Complete Core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2350008"/>
            <a:ext cx="3182112" cy="1490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E2EBF3"/>
                </a:solidFill>
                <a:latin typeface="Aptos"/>
              </a:rPr>
              <a:t>Finish and verify trip creation and itinerary management to make the main planning journey dependable.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828800"/>
            <a:ext cx="3474720" cy="210312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17136" y="1956816"/>
            <a:ext cx="318211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25BEAE"/>
                </a:solidFill>
                <a:latin typeface="Aptos"/>
              </a:rPr>
              <a:t>Automated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2350008"/>
            <a:ext cx="3182112" cy="1490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E2EBF3"/>
                </a:solidFill>
                <a:latin typeface="Aptos"/>
              </a:rPr>
              <a:t>Add unit and integration tests to catch regressions earlier and increase confidence in changes.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474720" cy="210312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93024" y="1956816"/>
            <a:ext cx="318211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25BEAE"/>
                </a:solidFill>
                <a:latin typeface="Aptos"/>
              </a:rPr>
              <a:t>Booking &amp; 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4" y="2350008"/>
            <a:ext cx="3182112" cy="1490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E2EBF3"/>
                </a:solidFill>
                <a:latin typeface="Aptos"/>
              </a:rPr>
              <a:t>Consider booking/payment integrations and cloud deployment to make the product more useful and accessible.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828800"/>
            <a:ext cx="228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800" b="1">
                <a:solidFill>
                  <a:srgbClr val="25BEAE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00652"/>
            <a:ext cx="265176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Performance &amp; 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4176" y="4253992"/>
            <a:ext cx="768096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dirty="0">
                <a:solidFill>
                  <a:srgbClr val="E2EBF3"/>
                </a:solidFill>
                <a:latin typeface="Aptos"/>
              </a:rPr>
              <a:t>Profile slow endpoints, validate inputs, review authentication/</a:t>
            </a:r>
            <a:r>
              <a:rPr sz="1300" b="0" dirty="0" err="1">
                <a:solidFill>
                  <a:srgbClr val="E2EBF3"/>
                </a:solidFill>
                <a:latin typeface="Aptos"/>
              </a:rPr>
              <a:t>authorisation</a:t>
            </a:r>
            <a:r>
              <a:rPr sz="1300" b="0" dirty="0">
                <a:solidFill>
                  <a:srgbClr val="E2EBF3"/>
                </a:solidFill>
                <a:latin typeface="Aptos"/>
              </a:rPr>
              <a:t>, and monitor failures.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496312"/>
            <a:ext cx="228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800" b="1">
                <a:solidFill>
                  <a:srgbClr val="25BEAE"/>
                </a:solidFill>
                <a:latin typeface="Apto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239512"/>
            <a:ext cx="265176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Customer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0600" y="5335524"/>
            <a:ext cx="768096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dirty="0">
                <a:solidFill>
                  <a:srgbClr val="E2EBF3"/>
                </a:solidFill>
                <a:latin typeface="Aptos"/>
              </a:rPr>
              <a:t>Each phase should improve reliability, convenience, and trust before expanding the feature set.</a:t>
            </a:r>
          </a:p>
        </p:txBody>
      </p:sp>
    </p:spTree>
    <p:extLst>
      <p:ext uri="{BB962C8B-B14F-4D97-AF65-F5344CB8AC3E}">
        <p14:creationId xmlns:p14="http://schemas.microsoft.com/office/powerpoint/2010/main" val="15182391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719814" y="667841"/>
            <a:ext cx="10752067" cy="449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Subtitle 3"/>
          <p:cNvSpPr txBox="1"/>
          <p:nvPr/>
        </p:nvSpPr>
        <p:spPr>
          <a:xfrm>
            <a:off x="719814" y="1369616"/>
            <a:ext cx="10752067" cy="224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 err="1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TripMate</a:t>
            </a: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</a:t>
            </a:r>
            <a:r>
              <a:rPr lang="en-US" sz="1400" dirty="0" smtClean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-  </a:t>
            </a: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one platform for planning a trip, built by four roles working as one team</a:t>
            </a:r>
            <a:endParaRPr lang="en-US" sz="1400" dirty="0"/>
          </a:p>
        </p:txBody>
      </p:sp>
      <p:sp>
        <p:nvSpPr>
          <p:cNvPr id="4" name="Card 4"/>
          <p:cNvSpPr/>
          <p:nvPr/>
        </p:nvSpPr>
        <p:spPr>
          <a:xfrm>
            <a:off x="719814" y="1760000"/>
            <a:ext cx="5261733" cy="1280000"/>
          </a:xfrm>
          <a:prstGeom prst="roundRect">
            <a:avLst>
              <a:gd name="adj" fmla="val 5780"/>
            </a:avLst>
          </a:prstGeom>
          <a:solidFill>
            <a:srgbClr val="0A1E42"/>
          </a:solidFill>
          <a:ln w="9525">
            <a:solidFill>
              <a:srgbClr val="1F4A99"/>
            </a:solidFill>
          </a:ln>
        </p:spPr>
      </p:sp>
      <p:sp>
        <p:nvSpPr>
          <p:cNvPr id="5" name="Card heading 5"/>
          <p:cNvSpPr txBox="1"/>
          <p:nvPr/>
        </p:nvSpPr>
        <p:spPr>
          <a:xfrm>
            <a:off x="959814" y="1910000"/>
            <a:ext cx="4781733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609DF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01  </a:t>
            </a:r>
            <a:r>
              <a:rPr lang="en-US" sz="1400" b="1" dirty="0">
                <a:solidFill>
                  <a:srgbClr val="F5F0F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Problem Solved</a:t>
            </a:r>
            <a:endParaRPr lang="en-US" sz="1400" dirty="0"/>
          </a:p>
        </p:txBody>
      </p:sp>
      <p:sp>
        <p:nvSpPr>
          <p:cNvPr id="6" name="Card body 6"/>
          <p:cNvSpPr txBox="1"/>
          <p:nvPr/>
        </p:nvSpPr>
        <p:spPr>
          <a:xfrm>
            <a:off x="959814" y="2260000"/>
            <a:ext cx="4781733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Travel planning no longer has to be spread across many apps. TripMate brings discovery and itinerary planning into one web application.</a:t>
            </a:r>
            <a:endParaRPr lang="en-US" sz="1100" dirty="0"/>
          </a:p>
        </p:txBody>
      </p:sp>
      <p:sp>
        <p:nvSpPr>
          <p:cNvPr id="7" name="Card 7"/>
          <p:cNvSpPr/>
          <p:nvPr/>
        </p:nvSpPr>
        <p:spPr>
          <a:xfrm>
            <a:off x="6210147" y="1760000"/>
            <a:ext cx="5261733" cy="1280000"/>
          </a:xfrm>
          <a:prstGeom prst="roundRect">
            <a:avLst>
              <a:gd name="adj" fmla="val 5780"/>
            </a:avLst>
          </a:prstGeom>
          <a:solidFill>
            <a:srgbClr val="0A1E42"/>
          </a:solidFill>
          <a:ln w="9525">
            <a:solidFill>
              <a:srgbClr val="1F4A99"/>
            </a:solidFill>
          </a:ln>
        </p:spPr>
      </p:sp>
      <p:sp>
        <p:nvSpPr>
          <p:cNvPr id="8" name="Card heading 8"/>
          <p:cNvSpPr txBox="1"/>
          <p:nvPr/>
        </p:nvSpPr>
        <p:spPr>
          <a:xfrm>
            <a:off x="6450147" y="1910000"/>
            <a:ext cx="4781733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609DF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02  </a:t>
            </a:r>
            <a:r>
              <a:rPr lang="en-US" sz="1400" b="1" dirty="0">
                <a:solidFill>
                  <a:srgbClr val="F5F0F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Solid Technical Foundation</a:t>
            </a:r>
            <a:endParaRPr lang="en-US" sz="1400" dirty="0"/>
          </a:p>
        </p:txBody>
      </p:sp>
      <p:sp>
        <p:nvSpPr>
          <p:cNvPr id="9" name="Card body 9"/>
          <p:cNvSpPr txBox="1"/>
          <p:nvPr/>
        </p:nvSpPr>
        <p:spPr>
          <a:xfrm>
            <a:off x="6450147" y="2260000"/>
            <a:ext cx="4781733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.NET 8 backend with Entity Framework Core, secure ASP.NET Identity and JWT authentication, and a Swagger-documented API.</a:t>
            </a:r>
            <a:endParaRPr lang="en-US" sz="1100" dirty="0"/>
          </a:p>
        </p:txBody>
      </p:sp>
      <p:sp>
        <p:nvSpPr>
          <p:cNvPr id="10" name="Card 10"/>
          <p:cNvSpPr/>
          <p:nvPr/>
        </p:nvSpPr>
        <p:spPr>
          <a:xfrm>
            <a:off x="719814" y="3268600"/>
            <a:ext cx="5261733" cy="1280000"/>
          </a:xfrm>
          <a:prstGeom prst="roundRect">
            <a:avLst>
              <a:gd name="adj" fmla="val 5780"/>
            </a:avLst>
          </a:prstGeom>
          <a:solidFill>
            <a:srgbClr val="0A1E42"/>
          </a:solidFill>
          <a:ln w="9525">
            <a:solidFill>
              <a:srgbClr val="1F4A99"/>
            </a:solidFill>
          </a:ln>
        </p:spPr>
      </p:sp>
      <p:sp>
        <p:nvSpPr>
          <p:cNvPr id="11" name="Card heading 11"/>
          <p:cNvSpPr txBox="1"/>
          <p:nvPr/>
        </p:nvSpPr>
        <p:spPr>
          <a:xfrm>
            <a:off x="959814" y="3418600"/>
            <a:ext cx="4781733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609DF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03  </a:t>
            </a:r>
            <a:r>
              <a:rPr lang="en-US" sz="1400" b="1" dirty="0">
                <a:solidFill>
                  <a:srgbClr val="F5F0F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Teamwork That Delivered</a:t>
            </a:r>
            <a:endParaRPr lang="en-US" sz="1400" dirty="0"/>
          </a:p>
        </p:txBody>
      </p:sp>
      <p:sp>
        <p:nvSpPr>
          <p:cNvPr id="12" name="Card body 12"/>
          <p:cNvSpPr txBox="1"/>
          <p:nvPr/>
        </p:nvSpPr>
        <p:spPr>
          <a:xfrm>
            <a:off x="959814" y="3768600"/>
            <a:ext cx="4781733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Frontend, backend, database and business analysis worked together through Agile/Scrum, using GitHub and Jira.</a:t>
            </a:r>
            <a:endParaRPr lang="en-US" sz="1100" dirty="0"/>
          </a:p>
        </p:txBody>
      </p:sp>
      <p:sp>
        <p:nvSpPr>
          <p:cNvPr id="13" name="Card 13"/>
          <p:cNvSpPr/>
          <p:nvPr/>
        </p:nvSpPr>
        <p:spPr>
          <a:xfrm>
            <a:off x="6210147" y="3268600"/>
            <a:ext cx="5261733" cy="1280000"/>
          </a:xfrm>
          <a:prstGeom prst="roundRect">
            <a:avLst>
              <a:gd name="adj" fmla="val 5780"/>
            </a:avLst>
          </a:prstGeom>
          <a:solidFill>
            <a:srgbClr val="0A1E42"/>
          </a:solidFill>
          <a:ln w="9525">
            <a:solidFill>
              <a:srgbClr val="1F4A99"/>
            </a:solidFill>
          </a:ln>
        </p:spPr>
      </p:sp>
      <p:sp>
        <p:nvSpPr>
          <p:cNvPr id="14" name="Card heading 14"/>
          <p:cNvSpPr txBox="1"/>
          <p:nvPr/>
        </p:nvSpPr>
        <p:spPr>
          <a:xfrm>
            <a:off x="6450147" y="3418600"/>
            <a:ext cx="4781733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609DF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04  </a:t>
            </a:r>
            <a:r>
              <a:rPr lang="en-US" sz="1400" b="1" dirty="0">
                <a:solidFill>
                  <a:srgbClr val="F5F0F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Clear Road Ahead</a:t>
            </a:r>
            <a:endParaRPr lang="en-US" sz="1400" dirty="0"/>
          </a:p>
        </p:txBody>
      </p:sp>
      <p:sp>
        <p:nvSpPr>
          <p:cNvPr id="15" name="Card body 15"/>
          <p:cNvSpPr txBox="1"/>
          <p:nvPr/>
        </p:nvSpPr>
        <p:spPr>
          <a:xfrm>
            <a:off x="6450147" y="3768600"/>
            <a:ext cx="4781733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Next: finish core trip and itinerary features, then add booking, payments, automated testing and cloud deployment.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678798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0" y="1350000"/>
            <a:ext cx="12192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Subtitle 3"/>
          <p:cNvSpPr txBox="1"/>
          <p:nvPr/>
        </p:nvSpPr>
        <p:spPr>
          <a:xfrm>
            <a:off x="0" y="2450000"/>
            <a:ext cx="12192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609DF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4" name="Team card 4"/>
          <p:cNvSpPr/>
          <p:nvPr/>
        </p:nvSpPr>
        <p:spPr>
          <a:xfrm>
            <a:off x="2096000" y="3350000"/>
            <a:ext cx="8000000" cy="1750000"/>
          </a:xfrm>
          <a:prstGeom prst="roundRect">
            <a:avLst>
              <a:gd name="adj" fmla="val 5780"/>
            </a:avLst>
          </a:prstGeom>
          <a:solidFill>
            <a:srgbClr val="0A1E42"/>
          </a:solidFill>
          <a:ln w="9525">
            <a:solidFill>
              <a:srgbClr val="1F4A99"/>
            </a:solidFill>
          </a:ln>
        </p:spPr>
      </p:sp>
      <p:sp>
        <p:nvSpPr>
          <p:cNvPr id="5" name="Project 5"/>
          <p:cNvSpPr txBox="1"/>
          <p:nvPr/>
        </p:nvSpPr>
        <p:spPr>
          <a:xfrm>
            <a:off x="2336000" y="3580000"/>
            <a:ext cx="752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5F0F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TripMate — Travel Planning Web Application</a:t>
            </a:r>
            <a:endParaRPr lang="en-US" sz="1400" dirty="0"/>
          </a:p>
        </p:txBody>
      </p:sp>
      <p:sp>
        <p:nvSpPr>
          <p:cNvPr id="6" name="Team 6"/>
          <p:cNvSpPr txBox="1"/>
          <p:nvPr/>
        </p:nvSpPr>
        <p:spPr>
          <a:xfrm>
            <a:off x="2336000" y="4050000"/>
            <a:ext cx="752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Bibek KC  ·  Simran Chauhan  ·  </a:t>
            </a:r>
            <a:r>
              <a:rPr lang="en-US" sz="1400" dirty="0" smtClean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Susmita Sharma  </a:t>
            </a: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·  </a:t>
            </a:r>
            <a:r>
              <a:rPr lang="en-US" sz="1400" dirty="0" err="1" smtClean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Nikesh</a:t>
            </a:r>
            <a:r>
              <a:rPr lang="en-US" sz="1400" dirty="0" smtClean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Shrestha</a:t>
            </a:r>
            <a:endParaRPr lang="en-US" sz="1400" dirty="0"/>
          </a:p>
        </p:txBody>
      </p:sp>
      <p:sp>
        <p:nvSpPr>
          <p:cNvPr id="7" name="Course 7"/>
          <p:cNvSpPr txBox="1"/>
          <p:nvPr/>
        </p:nvSpPr>
        <p:spPr>
          <a:xfrm>
            <a:off x="2336000" y="4550000"/>
            <a:ext cx="752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S226 PRT681/PRT585 Software Engineering: Practice  ·  Sydney Group 2</a:t>
            </a:r>
            <a:endParaRPr lang="en-US" sz="1100" dirty="0"/>
          </a:p>
        </p:txBody>
      </p:sp>
      <p:sp>
        <p:nvSpPr>
          <p:cNvPr id="8" name="Tagline 8"/>
          <p:cNvSpPr txBox="1"/>
          <p:nvPr/>
        </p:nvSpPr>
        <p:spPr>
          <a:xfrm>
            <a:off x="0" y="5750000"/>
            <a:ext cx="12192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PLAN · EXPLORE · EXPERIENCE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381622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1420</Words>
  <Application>Microsoft Office PowerPoint</Application>
  <PresentationFormat>Widescreen</PresentationFormat>
  <Paragraphs>215</Paragraphs>
  <Slides>19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Aptos</vt:lpstr>
      <vt:lpstr>Arial</vt:lpstr>
      <vt:lpstr>Calibri</vt:lpstr>
      <vt:lpstr>Calibri Light</vt:lpstr>
      <vt:lpstr>Merriweather</vt:lpstr>
      <vt:lpstr>Merriweather Bold</vt:lpstr>
      <vt:lpstr>Merriweather Light</vt:lpstr>
      <vt:lpstr>Open Sans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2</cp:revision>
  <dcterms:created xsi:type="dcterms:W3CDTF">2026-10-13T01:55:33Z</dcterms:created>
  <dcterms:modified xsi:type="dcterms:W3CDTF">2026-10-13T01:59:48Z</dcterms:modified>
</cp:coreProperties>
</file>